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jp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1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074682"/>
            <a:ext cx="342891" cy="212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3921" y="1085850"/>
            <a:ext cx="10477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IOT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733550"/>
            <a:ext cx="6457788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1040"/>
              </a:spcAft>
            </a:pPr>
            <a:r>
              <a:rPr sz="3827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 Smart Classroom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Project 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3409950"/>
            <a:ext cx="1219169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3676649"/>
            <a:ext cx="645778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3120"/>
              </a:spcAft>
            </a:pPr>
            <a:r>
              <a:rPr sz="1674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IoT-Based Student Monitoring &amp;</a:t>
            </a:r>
            <a:r>
              <a:rPr sz="1104"/>
              <a:t>
</a:t>
            </a:r>
            <a:r>
              <a:rPr sz="1674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Evaluation System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978213"/>
            <a:ext cx="190495" cy="1400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426" y="4933950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Mahnoor Shahid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321113"/>
            <a:ext cx="190495" cy="1400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3426" y="5276850"/>
            <a:ext cx="9905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Sarwat Fatima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658410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26" y="5619750"/>
            <a:ext cx="36575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BSCS 5th-A | Reg: 23-NTU-CS-1042, 23-NTU-CS-1092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512" y="1552574"/>
            <a:ext cx="4019449" cy="1733550"/>
          </a:xfrm>
          <a:prstGeom prst="roundRect">
            <a:avLst>
              <a:gd name="adj" fmla="val 879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743631" y="1824037"/>
            <a:ext cx="266693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4621" y="1790700"/>
            <a:ext cx="143823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Course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3631" y="2209800"/>
            <a:ext cx="35432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Course:</a:t>
            </a: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Embedded IoT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3631" y="2514600"/>
            <a:ext cx="35432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Instructor:</a:t>
            </a: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Sir Nasir Mehmod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3631" y="2819399"/>
            <a:ext cx="35432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Date:</a:t>
            </a: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22/12/2025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512" y="3590924"/>
            <a:ext cx="4019449" cy="1724024"/>
          </a:xfrm>
          <a:prstGeom prst="roundRect">
            <a:avLst>
              <a:gd name="adj" fmla="val 883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743631" y="3843544"/>
            <a:ext cx="266693" cy="2377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4621" y="3829050"/>
            <a:ext cx="10286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3631" y="4248150"/>
            <a:ext cx="35432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National Textile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3631" y="4552949"/>
            <a:ext cx="35432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Faisalabad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3631" y="4857750"/>
            <a:ext cx="354321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Department of Computer Science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19875"/>
            <a:ext cx="12191695" cy="952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65750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333500"/>
            <a:ext cx="4762380" cy="1485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IoT-based monitoring system enabling real-time tracking of student activity and performance evaluation in classroom environments.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261946"/>
            <a:ext cx="304792" cy="2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3921" y="3200400"/>
            <a:ext cx="385752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Real-time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21" y="3562349"/>
            <a:ext cx="385752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Student presence &amp; presentation engagement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111869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3921" y="4038599"/>
            <a:ext cx="332414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Performance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21" y="4381499"/>
            <a:ext cx="332414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Automated evaluation &amp; scoring system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931019"/>
            <a:ext cx="304792" cy="234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4857750"/>
            <a:ext cx="31717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Classroom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21" y="5219700"/>
            <a:ext cx="31717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Comprehensive monitoring &amp; analysis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5804388"/>
            <a:ext cx="304792" cy="1641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5695949"/>
            <a:ext cx="284790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Efficient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6038849"/>
            <a:ext cx="284790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Teacher-friendly activity recording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639" y="1257300"/>
            <a:ext cx="5486262" cy="5143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639" y="1257300"/>
            <a:ext cx="5486262" cy="5143500"/>
          </a:xfrm>
          <a:prstGeom prst="roundRect">
            <a:avLst>
              <a:gd name="adj" fmla="val 2962"/>
            </a:avLst>
          </a:prstGeom>
          <a:gradFill rotWithShape="1">
            <a:gsLst>
              <a:gs pos="0">
                <a:srgbClr val="00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234" y="5562600"/>
            <a:ext cx="5029074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1155" y="5734050"/>
            <a:ext cx="470523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Interactive Learning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4329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800100"/>
            <a:ext cx="1904952" cy="1904999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352516" y="1112693"/>
            <a:ext cx="533386" cy="3273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52" y="1695449"/>
            <a:ext cx="142871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PIR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52" y="205740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Motion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52" y="2324100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08080"/>
                </a:solidFill>
                <a:latin typeface="Roboto Flex"/>
                <a:rFonts ascii="Roboto Flex" hAnsi="Roboto Flex" eastAsia="Roboto Flex" cs="Roboto Flex"/>
              </a:rPr>
              <a:t>Pin 34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47983" y="1593181"/>
            <a:ext cx="457188" cy="31883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105272" y="800100"/>
            <a:ext cx="1904952" cy="1904999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43431" y="704849"/>
            <a:ext cx="619109" cy="323849"/>
          </a:xfrm>
          <a:prstGeom prst="roundRect">
            <a:avLst>
              <a:gd name="adj" fmla="val 58817647"/>
            </a:avLst>
          </a:prstGeom>
          <a:solidFill>
            <a:srgbClr val="FFFFFF">
              <a:alpha val="2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352" y="800100"/>
            <a:ext cx="295267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CORE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52956" y="949452"/>
            <a:ext cx="609584" cy="4632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52916" y="1638299"/>
            <a:ext cx="140966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ESP32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2916" y="2095499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Microcontroller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2916" y="2324100"/>
            <a:ext cx="14096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08080"/>
                </a:solidFill>
                <a:latin typeface="Roboto Flex"/>
                <a:rFonts ascii="Roboto Flex" hAnsi="Roboto Flex" eastAsia="Roboto Flex" cs="Roboto Flex"/>
              </a:rPr>
              <a:t>Wi-Fi + Bluetooth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2916" y="2476499"/>
            <a:ext cx="14096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08080"/>
                </a:solidFill>
                <a:latin typeface="Roboto Flex"/>
                <a:rFonts ascii="Roboto Flex" hAnsi="Roboto Flex" eastAsia="Roboto Flex" cs="Roboto Flex"/>
              </a:rPr>
              <a:t>Dual Core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86522" y="1593181"/>
            <a:ext cx="457188" cy="31883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534286" y="800100"/>
            <a:ext cx="1904952" cy="1904999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220069" y="1052079"/>
            <a:ext cx="533386" cy="4485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772405" y="1695449"/>
            <a:ext cx="142871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LDR Sensor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2405" y="205740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Light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2405" y="2324100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08080"/>
                </a:solidFill>
                <a:latin typeface="Roboto Flex"/>
                <a:rFonts ascii="Roboto Flex" hAnsi="Roboto Flex" eastAsia="Roboto Flex" cs="Roboto Flex"/>
              </a:rPr>
              <a:t>Pin 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2933699"/>
            <a:ext cx="2543111" cy="1714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714457" y="3291639"/>
            <a:ext cx="457188" cy="4271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6753" y="3848099"/>
            <a:ext cx="214307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Blynk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53" y="41433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Mobile Dashboard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14737" y="3657004"/>
            <a:ext cx="380990" cy="26789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210144" y="2933699"/>
            <a:ext cx="2543111" cy="1714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257868" y="3345781"/>
            <a:ext cx="457188" cy="3188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10164" y="3848099"/>
            <a:ext cx="214307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Web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0164" y="4143375"/>
            <a:ext cx="214307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Custom Dashboard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058148" y="3657004"/>
            <a:ext cx="380990" cy="26789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3438439" y="4876800"/>
            <a:ext cx="8086522" cy="1333500"/>
          </a:xfrm>
          <a:prstGeom prst="roundRect">
            <a:avLst>
              <a:gd name="adj" fmla="val 171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76678" y="5142904"/>
            <a:ext cx="380990" cy="26789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14737" y="5543550"/>
            <a:ext cx="110487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Node-RED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4737" y="5838824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Database Middleware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372165" y="5422352"/>
            <a:ext cx="342891" cy="242394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772405" y="5130998"/>
            <a:ext cx="380990" cy="29170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477138" y="5543550"/>
            <a:ext cx="97152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77138" y="5838824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Permanent Storage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81330" y="64388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19449" y="6553199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Data Flow:</a:t>
            </a: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Sensors → ESP32 → Blynk/Web → Node-RED →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4329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Hardware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09699"/>
            <a:ext cx="476238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943100"/>
            <a:ext cx="476238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Microcontroller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5336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61980" y="265788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6318" y="2590799"/>
            <a:ext cx="264788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Low-cost, energy-efficient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1432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3279084"/>
            <a:ext cx="266693" cy="1855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3200400"/>
            <a:ext cx="29907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Wi-Fi + Bluetooth connectivity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7528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3877089"/>
            <a:ext cx="266693" cy="2087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6318" y="3809999"/>
            <a:ext cx="205734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Dual-core processor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3624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4466396"/>
            <a:ext cx="266693" cy="24930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6318" y="4419600"/>
            <a:ext cx="20001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Multiple peripherals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9720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5096289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76318" y="5029200"/>
            <a:ext cx="272408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Fine-grained power modes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5734050"/>
            <a:ext cx="4762380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654" y="5905500"/>
            <a:ext cx="44385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Peripherals:</a:t>
            </a:r>
            <a:r>
              <a:rPr sz="837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 Touch, CAN, SDIO, I2S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2085" y="1257300"/>
            <a:ext cx="5143371" cy="51435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72085" y="5810249"/>
            <a:ext cx="5143371" cy="590549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/>
              </a:gs>
              <a:gs pos="5000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4481" y="5962650"/>
            <a:ext cx="48385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ESP32 Development 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6292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Hardware Components - Sensors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9457"/>
            <a:ext cx="342891" cy="21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1057275"/>
            <a:ext cx="182875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PIR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666874"/>
            <a:ext cx="512432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0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Passive Infrared Motion Detector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47459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9624" y="2409825"/>
            <a:ext cx="335271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Detects motion via infrared radiation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946082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24" y="2876549"/>
            <a:ext cx="318127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Monitors student presence/activity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3433762"/>
            <a:ext cx="228594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3343275"/>
            <a:ext cx="187637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Connected to Pin 34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6733" y="3899534"/>
            <a:ext cx="228594" cy="125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3809999"/>
            <a:ext cx="259073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Detection range: 3-7 meters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6733" y="4368641"/>
            <a:ext cx="228594" cy="1400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624" y="4276725"/>
            <a:ext cx="16382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100-degree angle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895849"/>
            <a:ext cx="5124321" cy="1714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00639" y="1379154"/>
            <a:ext cx="342891" cy="2896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7828" y="1295399"/>
            <a:ext cx="182875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LDR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639" y="1904999"/>
            <a:ext cx="512432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0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Light Dependent Resistor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00639" y="2693193"/>
            <a:ext cx="228594" cy="2143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43531" y="2647949"/>
            <a:ext cx="342891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Works on photoconductivity principle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00639" y="3178492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43531" y="3105149"/>
            <a:ext cx="315269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Detects projector status (ON/OFF)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00639" y="3662362"/>
            <a:ext cx="228594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43531" y="3581400"/>
            <a:ext cx="187637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Connected to Pin 35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00639" y="4111942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43531" y="4038599"/>
            <a:ext cx="303839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Measures light intensity changes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639" y="4667249"/>
            <a:ext cx="5124321" cy="1714500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11469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Blynk IoT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638299"/>
            <a:ext cx="634349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04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Features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42185"/>
            <a:ext cx="228594" cy="1257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24" y="2152650"/>
            <a:ext cx="1600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Low-code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914677" y="2236470"/>
            <a:ext cx="228594" cy="137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7568" y="2152650"/>
            <a:ext cx="189542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Real-time visualization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634615"/>
            <a:ext cx="228594" cy="21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24" y="2590799"/>
            <a:ext cx="189542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Mobile app dashboard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914677" y="2671762"/>
            <a:ext cx="228594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7568" y="2590799"/>
            <a:ext cx="17144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Virtual pin exchange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6764" y="3067050"/>
            <a:ext cx="188531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3028950"/>
            <a:ext cx="202877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Drag-and-drop interface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914677" y="3098482"/>
            <a:ext cx="228594" cy="1657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57568" y="3028950"/>
            <a:ext cx="155253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Cloud connectivity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33" y="3619499"/>
            <a:ext cx="634349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04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Virtual Pins Configuration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152899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555" y="42291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55" y="4457700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Student Select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9329" y="4152899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3151" y="42291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3151" y="4457700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Active Student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1925" y="4152899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5747" y="42291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5747" y="4457700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PIR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819650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555" y="4895849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55" y="5124449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Projector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9329" y="4819650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3151" y="4895849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3151" y="5124449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Presentation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71925" y="4819650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95747" y="4895849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5747" y="5124449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Attendance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5486400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555" y="55626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555" y="5791200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19329" y="5486400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43151" y="55626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3151" y="5791200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Remarks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71925" y="5486400"/>
            <a:ext cx="2038299" cy="552450"/>
          </a:xfrm>
          <a:prstGeom prst="roundRect">
            <a:avLst>
              <a:gd name="adj" fmla="val 2758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95747" y="55626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V17-19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5747" y="5791200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Save Operations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19809" y="1257300"/>
            <a:ext cx="3905152" cy="5143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19809" y="5810249"/>
            <a:ext cx="3905152" cy="590549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/>
              </a:gs>
              <a:gs pos="5000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205" y="5962650"/>
            <a:ext cx="36003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Blynk Mobile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7431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876299"/>
            <a:ext cx="5276718" cy="2905124"/>
          </a:xfrm>
          <a:prstGeom prst="roundRect">
            <a:avLst>
              <a:gd name="adj" fmla="val 786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050" y="1276350"/>
            <a:ext cx="552436" cy="609600"/>
          </a:xfrm>
          <a:prstGeom prst="roundRect">
            <a:avLst>
              <a:gd name="adj" fmla="val 27586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5822" y="1474732"/>
            <a:ext cx="342891" cy="212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85882" y="1181099"/>
            <a:ext cx="3943251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Student Activity Monitoring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81050" y="2261907"/>
            <a:ext cx="190495" cy="1624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5842" y="2209800"/>
            <a:ext cx="312412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Presence detection via PIR sensor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81050" y="2738157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5842" y="2686050"/>
            <a:ext cx="339081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Presentation tracking via LDR sensor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81050" y="3195357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5842" y="3143250"/>
            <a:ext cx="239071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Real-time activity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243" y="876299"/>
            <a:ext cx="5276718" cy="2905124"/>
          </a:xfrm>
          <a:prstGeom prst="roundRect">
            <a:avLst>
              <a:gd name="adj" fmla="val 786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62560" y="11810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95907" y="1326274"/>
            <a:ext cx="342891" cy="3192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24541" y="1295399"/>
            <a:ext cx="272408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Blynk Integration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62560" y="2071407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67353" y="2019299"/>
            <a:ext cx="190495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Mobile app interface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62560" y="254765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67353" y="2495550"/>
            <a:ext cx="203829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Live data visualization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62560" y="300485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67353" y="2952750"/>
            <a:ext cx="25335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Remote control capabilities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076699"/>
            <a:ext cx="5276718" cy="2714625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1050" y="44005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4397" y="4572328"/>
            <a:ext cx="342891" cy="2660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43031" y="4495799"/>
            <a:ext cx="320031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Feedback &amp; Analytics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81050" y="52908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5842" y="5238749"/>
            <a:ext cx="298125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Automated engagement scoring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81050" y="57480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5842" y="5695949"/>
            <a:ext cx="275265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Dynamic feedback generation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81050" y="622430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85842" y="6172200"/>
            <a:ext cx="193352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Performance metrics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243" y="4076699"/>
            <a:ext cx="5276718" cy="2714625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62560" y="44005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7DE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95907" y="4584152"/>
            <a:ext cx="342891" cy="2423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24541" y="4495799"/>
            <a:ext cx="207639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Web Dashboard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62560" y="529085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67353" y="5238749"/>
            <a:ext cx="202877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Custom web interface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62560" y="5748057"/>
            <a:ext cx="190495" cy="1624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67353" y="5695949"/>
            <a:ext cx="177160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Real-time statistics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62560" y="6224307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67353" y="6172200"/>
            <a:ext cx="347653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Chart.js visualizations &amp; student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02907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Engagement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47800"/>
            <a:ext cx="523861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Scoring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2076449"/>
            <a:ext cx="5238619" cy="2076449"/>
          </a:xfrm>
          <a:prstGeom prst="roundRect">
            <a:avLst>
              <a:gd name="adj" fmla="val 1100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2362614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5842" y="2314575"/>
            <a:ext cx="226689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Base Score Formula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852" y="2781300"/>
            <a:ext cx="4762380" cy="1133475"/>
          </a:xfrm>
          <a:prstGeom prst="roundRect">
            <a:avLst>
              <a:gd name="adj" fmla="val 13445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47" y="2971800"/>
            <a:ext cx="4381390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435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Base Score = (Attendance × 40%) + (Presentation × 60%)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4577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458914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76318" y="4381499"/>
            <a:ext cx="318127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Bonus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18" y="4705350"/>
            <a:ext cx="318127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+10 if remarks mention "participation"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52197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646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535114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6318" y="5143500"/>
            <a:ext cx="2000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Penalty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18" y="5467349"/>
            <a:ext cx="2000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-15 if attendance &lt; 50%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5958986"/>
            <a:ext cx="304792" cy="2168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3921" y="5905500"/>
            <a:ext cx="254311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Final Score Range: </a:t>
            </a:r>
            <a:r>
              <a:rPr sz="1315" b="1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0-100%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342" y="1638299"/>
            <a:ext cx="523861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Feedback Generation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342" y="2266950"/>
            <a:ext cx="5238619" cy="1809749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86362" y="2522451"/>
            <a:ext cx="209544" cy="15574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72105" y="2457450"/>
            <a:ext cx="21716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Attendance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155" y="2857500"/>
            <a:ext cx="40956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≥15%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6918" y="2857500"/>
            <a:ext cx="240976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Excellent class participation!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1155" y="3219449"/>
            <a:ext cx="61910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10-15%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6462" y="3219449"/>
            <a:ext cx="353368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Good engagement, try to participate more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1155" y="3581400"/>
            <a:ext cx="40956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6918" y="3581400"/>
            <a:ext cx="262883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Needs to increase participation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6342" y="4229100"/>
            <a:ext cx="5238619" cy="1809749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86362" y="4480354"/>
            <a:ext cx="209544" cy="16424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72105" y="4419600"/>
            <a:ext cx="24002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Presentation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1155" y="4819650"/>
            <a:ext cx="40956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≥15%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6918" y="4819650"/>
            <a:ext cx="260978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Outstanding presentation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1155" y="5181599"/>
            <a:ext cx="61910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10-15%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6462" y="5181599"/>
            <a:ext cx="221926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Solid presentation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1155" y="5543550"/>
            <a:ext cx="40956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6918" y="5543550"/>
            <a:ext cx="23621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Practice presentation timing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6292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Node-RED Database Integration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9735"/>
            <a:ext cx="266693" cy="191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23" y="1114425"/>
            <a:ext cx="103819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22" y="1638299"/>
            <a:ext cx="538149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Permanent data storage for student records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25783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7723" y="2181225"/>
            <a:ext cx="252406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Architecture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5822" y="2705099"/>
            <a:ext cx="742931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22" y="2705099"/>
            <a:ext cx="742931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ESP32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904952" y="2793682"/>
            <a:ext cx="228594" cy="1657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247843" y="2705099"/>
            <a:ext cx="638159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7843" y="2705099"/>
            <a:ext cx="63815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MQTT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962200" y="2793682"/>
            <a:ext cx="228594" cy="16573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05092" y="2705099"/>
            <a:ext cx="1047723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5092" y="2705099"/>
            <a:ext cx="104772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Node-RED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38539" y="2793682"/>
            <a:ext cx="228594" cy="16573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781430" y="2705099"/>
            <a:ext cx="1047723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1430" y="2705099"/>
            <a:ext cx="104772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Database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3360420"/>
            <a:ext cx="228594" cy="1371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71525" y="3267075"/>
            <a:ext cx="138109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MQTT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24" y="3695699"/>
            <a:ext cx="4000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Port: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5862" y="3695699"/>
            <a:ext cx="45718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Source Code Pro"/>
                <a:rFonts ascii="Source Code Pro" hAnsi="Source Code Pro" eastAsia="Source Code Pro" cs="Source Code Pro"/>
              </a:rPr>
              <a:t>1883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24" y="4057650"/>
            <a:ext cx="6000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Broker: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5882" y="4057650"/>
            <a:ext cx="148586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Source Code Pro"/>
                <a:rFonts ascii="Source Code Pro" hAnsi="Source Code Pro" eastAsia="Source Code Pro" cs="Source Code Pro"/>
              </a:rPr>
              <a:t>10.226.199.65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24" y="4419600"/>
            <a:ext cx="51433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Topic: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159" y="4419600"/>
            <a:ext cx="251453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Source Code Pro"/>
                <a:rFonts ascii="Source Code Pro" hAnsi="Source Code Pro" eastAsia="Source Code Pro" cs="Source Code Pro"/>
              </a:rPr>
              <a:t>smartclassroom/student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47983" y="3366134"/>
            <a:ext cx="228594" cy="12572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952776" y="3267075"/>
            <a:ext cx="138109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Data Format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90875" y="3695699"/>
            <a:ext cx="2485962" cy="952499"/>
          </a:xfrm>
          <a:prstGeom prst="roundRect">
            <a:avLst>
              <a:gd name="adj" fmla="val 16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05172" y="3809999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7DE545"/>
                </a:solidFill>
                <a:latin typeface="Source Code Pro"/>
                <a:rFonts ascii="Source Code Pro" hAnsi="Source Code Pro" eastAsia="Source Code Pro" cs="Source Code Pro"/>
              </a:rPr>
              <a:t>JSON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5172" y="4076699"/>
            <a:ext cx="2257368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student, attendance,</a:t>
            </a:r>
            <a:r>
              <a:rPr sz="1104"/>
              <a:t>
</a:t>
            </a:r>
            <a:r>
              <a:rPr sz="95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presentation, score, remarks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6733" y="5005594"/>
            <a:ext cx="266693" cy="23771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47723" y="4933950"/>
            <a:ext cx="207639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Advantages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85822" y="551945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52516" y="5457825"/>
            <a:ext cx="1600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Permanent storage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838479" y="55194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105172" y="5457825"/>
            <a:ext cx="153348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Historical tracking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85822" y="591950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52516" y="5857875"/>
            <a:ext cx="1038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Auto reports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838479" y="591950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105172" y="5857875"/>
            <a:ext cx="149538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Multi-user access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85822" y="6319557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352516" y="6257925"/>
            <a:ext cx="201924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Analytics &amp; visualization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72105" y="1257300"/>
            <a:ext cx="4752856" cy="514350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772105" y="5543550"/>
            <a:ext cx="4752856" cy="85725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/>
              </a:gs>
              <a:gs pos="5000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24501" y="5695949"/>
            <a:ext cx="44480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Node-RED Flow Diagram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24501" y="6019800"/>
            <a:ext cx="44480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MQTT → JSON Parse →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02907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Web Dashboard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14425"/>
            <a:ext cx="6124421" cy="21717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1438689"/>
            <a:ext cx="266693" cy="20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42" y="1352549"/>
            <a:ext cx="326699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Student Overview Table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23941" y="1928532"/>
            <a:ext cx="190495" cy="162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28734" y="1876424"/>
            <a:ext cx="474333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Displays attendance, presentation, scores, remarks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23941" y="23571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8734" y="2305049"/>
            <a:ext cx="436234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Color-coded cells for quick status identification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23941" y="27857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28734" y="2733674"/>
            <a:ext cx="345748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Auto-generated feedback per 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476624"/>
            <a:ext cx="2962200" cy="1762125"/>
          </a:xfrm>
          <a:prstGeom prst="roundRect">
            <a:avLst>
              <a:gd name="adj" fmla="val 1297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6753" y="37318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1545" y="3676649"/>
            <a:ext cx="16382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Teacher Notes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71545" y="4157201"/>
            <a:ext cx="171445" cy="1437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19189" y="4105274"/>
            <a:ext cx="187637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Top engaged students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71545" y="4524682"/>
            <a:ext cx="171445" cy="1327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9189" y="4467224"/>
            <a:ext cx="2009724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Lowest engaged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9429" y="3476624"/>
            <a:ext cx="2962200" cy="1762125"/>
          </a:xfrm>
          <a:prstGeom prst="roundRect">
            <a:avLst>
              <a:gd name="adj" fmla="val 1297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019449" y="3757612"/>
            <a:ext cx="228594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24241" y="3676649"/>
            <a:ext cx="200972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Visual Analytics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24241" y="4159966"/>
            <a:ext cx="171445" cy="1382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1885" y="4105274"/>
            <a:ext cx="15620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Chart.js bar charts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324241" y="4521916"/>
            <a:ext cx="171445" cy="138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1885" y="4467224"/>
            <a:ext cx="196210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Real-time data updates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5505450"/>
            <a:ext cx="6124421" cy="1504950"/>
          </a:xfrm>
          <a:prstGeom prst="roundRect">
            <a:avLst>
              <a:gd name="adj" fmla="val 151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66753" y="5770244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71545" y="5705475"/>
            <a:ext cx="226689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Access Information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209644" y="6249352"/>
            <a:ext cx="228594" cy="74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52536" y="6134100"/>
            <a:ext cx="159063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http://&lt;ESP32-IP&gt;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9644" y="6524624"/>
            <a:ext cx="53814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Accessible on local network via browser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95947" y="1057275"/>
            <a:ext cx="4429014" cy="5553074"/>
          </a:xfrm>
          <a:prstGeom prst="roundRect">
            <a:avLst>
              <a:gd name="adj" fmla="val 516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257868" y="1274445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562660" y="1219200"/>
            <a:ext cx="213354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Dashboard Preview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57868" y="1685925"/>
            <a:ext cx="4105172" cy="4762500"/>
          </a:xfrm>
          <a:prstGeom prst="roundRect">
            <a:avLst>
              <a:gd name="adj" fmla="val 3712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10264" y="1838324"/>
            <a:ext cx="3800379" cy="2009774"/>
          </a:xfrm>
          <a:prstGeom prst="roundRect">
            <a:avLst>
              <a:gd name="adj" fmla="val 758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24561" y="1952624"/>
            <a:ext cx="175255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Engagement Scores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10905852" y="2017619"/>
            <a:ext cx="190495" cy="11766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7524561" y="2514600"/>
            <a:ext cx="838179" cy="1266824"/>
          </a:xfrm>
          <a:prstGeom prst="roundRect">
            <a:avLst>
              <a:gd name="adj" fmla="val 90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29414" y="2733674"/>
            <a:ext cx="838179" cy="1047749"/>
          </a:xfrm>
          <a:prstGeom prst="roundRect">
            <a:avLst>
              <a:gd name="adj" fmla="val 90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43791" y="2438400"/>
            <a:ext cx="838179" cy="1343025"/>
          </a:xfrm>
          <a:prstGeom prst="roundRect">
            <a:avLst>
              <a:gd name="adj" fmla="val 90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58168" y="2886075"/>
            <a:ext cx="838179" cy="895350"/>
          </a:xfrm>
          <a:prstGeom prst="roundRect">
            <a:avLst>
              <a:gd name="adj" fmla="val 90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81730" y="3857625"/>
            <a:ext cx="47623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B0"/>
                </a:solidFill>
                <a:latin typeface="Source Code Pro"/>
                <a:rFonts ascii="Source Code Pro" hAnsi="Source Code Pro" eastAsia="Source Code Pro" cs="Source Code Pro"/>
              </a:rPr>
              <a:t>Haruki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2305" y="3857625"/>
            <a:ext cx="32384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B0"/>
                </a:solidFill>
                <a:latin typeface="Source Code Pro"/>
                <a:rFonts ascii="Source Code Pro" hAnsi="Source Code Pro" eastAsia="Source Code Pro" cs="Source Code Pro"/>
              </a:rPr>
              <a:t>Mano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0959" y="3857625"/>
            <a:ext cx="40003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B0"/>
                </a:solidFill>
                <a:latin typeface="Source Code Pro"/>
                <a:rFonts ascii="Source Code Pro" hAnsi="Source Code Pro" eastAsia="Source Code Pro" cs="Source Code Pro"/>
              </a:rPr>
              <a:t>Ibana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337" y="3857625"/>
            <a:ext cx="32384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B0"/>
                </a:solidFill>
                <a:latin typeface="Source Code Pro"/>
                <a:rFonts ascii="Source Code Pro" hAnsi="Source Code Pro" eastAsia="Source Code Pro" cs="Source Code Pro"/>
              </a:rPr>
              <a:t>Amna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10264" y="3962399"/>
            <a:ext cx="1866853" cy="1209674"/>
          </a:xfrm>
          <a:prstGeom prst="roundRect">
            <a:avLst>
              <a:gd name="adj" fmla="val 1259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524561" y="4127397"/>
            <a:ext cx="171445" cy="12720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772205" y="4076699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Student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24561" y="4381499"/>
            <a:ext cx="71435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Attendance: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6602" y="4381499"/>
            <a:ext cx="26669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4561" y="4619625"/>
            <a:ext cx="48576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Present.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6602" y="4619625"/>
            <a:ext cx="26669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92%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4561" y="4857750"/>
            <a:ext cx="38099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Score: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10424" y="4857750"/>
            <a:ext cx="15239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DE545"/>
                </a:solidFill>
                <a:latin typeface="Roboto Flex"/>
                <a:rFonts ascii="Roboto Flex" hAnsi="Roboto Flex" eastAsia="Roboto Flex" cs="Roboto Flex"/>
              </a:rPr>
              <a:t>88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43791" y="3962399"/>
            <a:ext cx="1866853" cy="1209674"/>
          </a:xfrm>
          <a:prstGeom prst="roundRect">
            <a:avLst>
              <a:gd name="adj" fmla="val 1259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458088" y="4116336"/>
            <a:ext cx="171445" cy="14932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705732" y="4076699"/>
            <a:ext cx="7334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Feedback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58088" y="4381499"/>
            <a:ext cx="1638259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Excellent class participation! Outstanding presentation skills.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42891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62075"/>
            <a:ext cx="3495587" cy="2124075"/>
          </a:xfrm>
          <a:prstGeom prst="roundRect">
            <a:avLst>
              <a:gd name="adj" fmla="val 1076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0059" y="12192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59" y="12192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9325E"/>
                </a:solidFill>
                <a:latin typeface="Source Code Pro"/>
                <a:rFonts ascii="Source Code Pro" hAnsi="Source Code Pro" eastAsia="Source Code Pro" cs="Source Code Pro"/>
              </a:rPr>
              <a:t>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617477"/>
            <a:ext cx="247643" cy="213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0595" y="1562100"/>
            <a:ext cx="138109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Setup Phase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09644" y="2064774"/>
            <a:ext cx="171445" cy="995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57288" y="1990724"/>
            <a:ext cx="109534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Initialize pins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09644" y="2426724"/>
            <a:ext cx="171445" cy="995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7288" y="2352675"/>
            <a:ext cx="201924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Blynk &amp; WiFi connection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09644" y="2788674"/>
            <a:ext cx="171445" cy="995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57288" y="2714625"/>
            <a:ext cx="219069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Setup timers &amp; web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816" y="1362075"/>
            <a:ext cx="3495587" cy="2124075"/>
          </a:xfrm>
          <a:prstGeom prst="roundRect">
            <a:avLst>
              <a:gd name="adj" fmla="val 1076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86142" y="12192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6142" y="12192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9325E"/>
                </a:solidFill>
                <a:latin typeface="Source Code Pro"/>
                <a:rFonts ascii="Source Code Pro" hAnsi="Source Code Pro" eastAsia="Source Code Pro" cs="Source Code Pro"/>
              </a:rPr>
              <a:t>2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52836" y="1608838"/>
            <a:ext cx="247643" cy="2303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76678" y="1562100"/>
            <a:ext cx="113344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Main Loop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895727" y="2064774"/>
            <a:ext cx="171445" cy="995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43371" y="1990724"/>
            <a:ext cx="209544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Handle Blynk UI requests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895727" y="2426724"/>
            <a:ext cx="171445" cy="995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3371" y="2352675"/>
            <a:ext cx="23621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Process sensor timer events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895727" y="2788674"/>
            <a:ext cx="171445" cy="995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43371" y="2714625"/>
            <a:ext cx="164778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Manage web 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9374" y="1362075"/>
            <a:ext cx="3495587" cy="2124075"/>
          </a:xfrm>
          <a:prstGeom prst="roundRect">
            <a:avLst>
              <a:gd name="adj" fmla="val 1076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62700" y="12192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62700" y="12192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9325E"/>
                </a:solidFill>
                <a:latin typeface="Source Code Pro"/>
                <a:rFonts ascii="Source Code Pro" hAnsi="Source Code Pro" eastAsia="Source Code Pro" cs="Source Code Pro"/>
              </a:rPr>
              <a:t>3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29394" y="1646274"/>
            <a:ext cx="247643" cy="15550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53236" y="1562100"/>
            <a:ext cx="188590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Data Collection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5" y="2064774"/>
            <a:ext cx="171445" cy="995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19929" y="1990724"/>
            <a:ext cx="232404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Read PIR sensor (presence)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5" y="2426724"/>
            <a:ext cx="171445" cy="9955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819929" y="2352675"/>
            <a:ext cx="237166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Read LDR sensor (projector)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5" y="2788674"/>
            <a:ext cx="171445" cy="995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19929" y="2714625"/>
            <a:ext cx="250501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Calculate engagement scores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6913" y="3676649"/>
            <a:ext cx="3533686" cy="1838324"/>
          </a:xfrm>
          <a:prstGeom prst="roundRect">
            <a:avLst>
              <a:gd name="adj" fmla="val 1243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400239" y="35337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00239" y="3533774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9325E"/>
                </a:solidFill>
                <a:latin typeface="Source Code Pro"/>
                <a:rFonts ascii="Source Code Pro" hAnsi="Source Code Pro" eastAsia="Source Code Pro" cs="Source Code Pro"/>
              </a:rPr>
              <a:t>4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666933" y="3939805"/>
            <a:ext cx="247643" cy="17853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990775" y="3876674"/>
            <a:ext cx="213354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Data Transmission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009824" y="4379349"/>
            <a:ext cx="171445" cy="9955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257468" y="4305300"/>
            <a:ext cx="211449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Push to Blynk mobile app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009824" y="4741299"/>
            <a:ext cx="171445" cy="9955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257468" y="4667249"/>
            <a:ext cx="196210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Update web dashboard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009824" y="5103249"/>
            <a:ext cx="171445" cy="995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257468" y="5029200"/>
            <a:ext cx="241928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Send to Node-RED via MQTT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1095" y="3676649"/>
            <a:ext cx="3533686" cy="1838324"/>
          </a:xfrm>
          <a:prstGeom prst="roundRect">
            <a:avLst>
              <a:gd name="adj" fmla="val 1243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24421" y="35337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4421" y="3533774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9325E"/>
                </a:solidFill>
                <a:latin typeface="Source Code Pro"/>
                <a:rFonts ascii="Source Code Pro" hAnsi="Source Code Pro" eastAsia="Source Code Pro" cs="Source Code Pro"/>
              </a:rPr>
              <a:t>5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91115" y="3922527"/>
            <a:ext cx="247643" cy="21309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14957" y="3876674"/>
            <a:ext cx="239071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Feedback Generation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34006" y="4379349"/>
            <a:ext cx="171445" cy="9955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981650" y="4305300"/>
            <a:ext cx="254311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Generate automated feedback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34006" y="4741299"/>
            <a:ext cx="171445" cy="9955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981650" y="4667249"/>
            <a:ext cx="254311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Save to database permanently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43291" y="5743575"/>
            <a:ext cx="3505112" cy="561974"/>
          </a:xfrm>
          <a:prstGeom prst="roundRect">
            <a:avLst>
              <a:gd name="adj" fmla="val 27118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81410" y="5911215"/>
            <a:ext cx="228594" cy="21717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24301" y="5867399"/>
            <a:ext cx="268598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Continuous Monitoring Cycle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2859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7219"/>
            <a:ext cx="304792" cy="234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5822" y="1114425"/>
            <a:ext cx="320031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Project Achievements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1757233"/>
            <a:ext cx="209544" cy="181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0575" y="1704975"/>
            <a:ext cx="400039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Interactive sensor-driven evaluation system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185858"/>
            <a:ext cx="209544" cy="181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2133599"/>
            <a:ext cx="360988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Combines mobile and web dashboards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614483"/>
            <a:ext cx="209544" cy="181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2562224"/>
            <a:ext cx="305744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Real-time monitoring capabilities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043108"/>
            <a:ext cx="209544" cy="181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575" y="2990849"/>
            <a:ext cx="296220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Automated feedback generation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471733"/>
            <a:ext cx="209544" cy="181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575" y="3419474"/>
            <a:ext cx="393372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Database integration for historical tracking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48243" y="1232388"/>
            <a:ext cx="304792" cy="1641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67333" y="1114425"/>
            <a:ext cx="303839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Future Enhancements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48243" y="1757233"/>
            <a:ext cx="209544" cy="1812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72085" y="1704975"/>
            <a:ext cx="276218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Integration with more sensors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48243" y="2185858"/>
            <a:ext cx="209544" cy="1812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72085" y="2133599"/>
            <a:ext cx="351463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Advanced analytics and AI predictions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48243" y="2614483"/>
            <a:ext cx="209544" cy="1812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72085" y="2562224"/>
            <a:ext cx="303839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Cloud-based storage and access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48243" y="3043108"/>
            <a:ext cx="209544" cy="1812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72085" y="2990849"/>
            <a:ext cx="240976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Mobile app improvements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48243" y="3471733"/>
            <a:ext cx="209544" cy="1812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72085" y="3419474"/>
            <a:ext cx="228594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Multi-classroom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33" y="5648325"/>
            <a:ext cx="2181170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Thank You!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33" y="6238874"/>
            <a:ext cx="218117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B0B0B0"/>
                </a:solidFill>
                <a:latin typeface="Roboto Flex"/>
                <a:rFonts ascii="Roboto Flex" hAnsi="Roboto Flex" eastAsia="Roboto Flex" cs="Roboto Flex"/>
              </a:rPr>
              <a:t>Questions &amp; Discussion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474" y="5667374"/>
            <a:ext cx="2495487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267593" y="6000335"/>
            <a:ext cx="266693" cy="1913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86682" y="5829300"/>
            <a:ext cx="1600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Mahnoor Shahid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6682" y="6115050"/>
            <a:ext cx="160015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23-NTU-CS-1042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